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203" d="100"/>
          <a:sy n="203" d="100"/>
        </p:scale>
        <p:origin x="63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30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S3</a:t>
            </a:r>
            <a:r>
              <a:rPr lang="en-US" dirty="0"/>
              <a:t> — store prompts, lessons, and taxonomy outside the codebase so updates don't require redeployment</a:t>
            </a:r>
          </a:p>
          <a:p>
            <a:r>
              <a:rPr lang="en-US" b="1" dirty="0"/>
              <a:t>Kendra</a:t>
            </a:r>
            <a:r>
              <a:rPr lang="en-US" dirty="0"/>
              <a:t> — vector knowledge base that retrieves the most relevant few-shot examples at generation time, replaces hardcoded examples</a:t>
            </a:r>
          </a:p>
          <a:p>
            <a:r>
              <a:rPr lang="en-US" b="1" dirty="0"/>
              <a:t>S3 → Kendra connector</a:t>
            </a:r>
            <a:r>
              <a:rPr lang="en-US" dirty="0"/>
              <a:t> — Kendra automatically indexes whatever lands in S3, no manual ingestion pipeline</a:t>
            </a:r>
          </a:p>
          <a:p>
            <a:r>
              <a:rPr lang="en-US" b="1" dirty="0"/>
              <a:t>Bedrock </a:t>
            </a:r>
            <a:r>
              <a:rPr lang="en-US" b="1" dirty="0" err="1"/>
              <a:t>AgentCore</a:t>
            </a:r>
            <a:r>
              <a:rPr lang="en-US" dirty="0"/>
              <a:t> — orchestrates multi-step reasoning across tools instead of a single linear LLM call</a:t>
            </a:r>
          </a:p>
          <a:p>
            <a:r>
              <a:rPr lang="en-US" b="1" dirty="0"/>
              <a:t>MCP</a:t>
            </a:r>
            <a:r>
              <a:rPr lang="en-US" dirty="0"/>
              <a:t> — standard protocol for defining tools the agent can discover and call, not locked to one model or framework</a:t>
            </a:r>
          </a:p>
          <a:p>
            <a:r>
              <a:rPr lang="en-US" b="1" dirty="0"/>
              <a:t>Lambda Skills</a:t>
            </a:r>
            <a:r>
              <a:rPr lang="en-US" dirty="0"/>
              <a:t> — guardrails, skill selection, validation each become independent serverless functions that scale to any load</a:t>
            </a:r>
          </a:p>
          <a:p>
            <a:r>
              <a:rPr lang="en-US" b="1" dirty="0"/>
              <a:t>Agent Memory</a:t>
            </a:r>
            <a:r>
              <a:rPr lang="en-US" dirty="0"/>
              <a:t> — tracks what each student has practiced, so skill selection is driven by individual gaps not deterministic index cycling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5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3152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6304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19456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92608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65760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38912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BANTRLY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234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Generator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ELA lesson generation for K–12 speaking practice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2286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2560320" cy="91440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MODULES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Generator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291840"/>
            <a:ext cx="2560320" cy="91440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118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SKILLS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CCSS-aligned taxonomy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2560320" cy="91440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GRADE BANDS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K–2 through 9–12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Aankit Das  ·  Candidate Trial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lessons bore students.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without structure wastes time.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977640" cy="20116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57400"/>
            <a:ext cx="64008" cy="20116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generic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257860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content ignores developmental stage, skill level, and student context. Students disengage. Teachers lose trust in the tool.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57400"/>
            <a:ext cx="3977640" cy="20116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057400"/>
            <a:ext cx="64008" cy="2011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unstructured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47488" y="257860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AI generation produces entertaining content with no clear skill objective, no feedback anchor, and no measurable outcome.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251960"/>
            <a:ext cx="8321040" cy="640080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3251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narrative-driven lessons with a single measurable skill, grounded in learning science.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design decision is evidence-backed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977640" cy="10972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Bruner (1990)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mode improves encoding and recall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Hook stage: every lesson is story-driven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77640" cy="10972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10912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Rosenshine (2012)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10912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objective per lesson is the strongest predictor of effectiveness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Single-skill rule + CCSS taxonomy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3977640" cy="10972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Sweller (1994)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reduce extraneous cognitive load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3227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stage in every lesson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514600"/>
            <a:ext cx="3977640" cy="10972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Vygotsky (1978)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0912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→ independent practice mirrors ZPD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3227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Practice progression + scaffold fading by grade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3977640" cy="10972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Hattie &amp; Timperley (2007)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targeted feedback is the highest-leverage learning intervention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Reflect stage: named voice marker + growth signal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3977640" cy="10972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Hamari et al. (2014)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10912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works — immediate feedback is its most reliable element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Reflect stage; avoided leaderboards (Hanus &amp; Fox, 2015)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Bantrly sits in the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463040" cy="384048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2286000" cy="384048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234440"/>
            <a:ext cx="2286000" cy="384048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2377440" cy="384048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Bantrly gap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146304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1737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1691640"/>
            <a:ext cx="228600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1737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sessions, spaced repetition, immediate feedback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691640"/>
            <a:ext cx="228600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34840" y="1737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streaks, imitation not production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691640"/>
            <a:ext cx="237744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737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560320"/>
            <a:ext cx="1463040" cy="777240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6060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2560320"/>
            <a:ext cx="2286000" cy="777240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03120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progression, single-skill clarity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2560320"/>
            <a:ext cx="2286000" cy="777240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34840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ELA, no voice component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2560320"/>
            <a:ext cx="2377440" cy="777240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2606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429000"/>
            <a:ext cx="146304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4747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0" y="3429000"/>
            <a:ext cx="228600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03120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alignment, granular skill tracking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43400" y="3429000"/>
            <a:ext cx="228600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34840" y="3474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Punitive scoring, drill without narrative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3429000"/>
            <a:ext cx="237744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66560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8642" y="1691640"/>
            <a:ext cx="1280160" cy="2514600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20082" y="1783080"/>
            <a:ext cx="1097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Production-based voice practice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Narrative-driven lessons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signal feedback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do all three.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754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Hanus &amp; Fox (2015): leaderboards undermine intrinsic motivation — deliberately avoided.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BLUEPRINT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stages. 7 components. 5–8 minutes.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920240" cy="228600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19202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narrative scene. Curiosity before skill.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2286000"/>
            <a:ext cx="228600" cy="54864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234440"/>
            <a:ext cx="1920240" cy="228600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234440"/>
            <a:ext cx="19202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08483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skill. Show a worked example.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286000"/>
            <a:ext cx="228600" cy="54864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234440"/>
            <a:ext cx="1920240" cy="228600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234440"/>
            <a:ext cx="19202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90–180s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08483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speaks. Scaffolded → independent.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2286000"/>
            <a:ext cx="228600" cy="54864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234440"/>
            <a:ext cx="1920240" cy="228600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234440"/>
            <a:ext cx="19202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389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084832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one voice marker. Name what's next.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607309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COMPONENTS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854197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Grade Band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023361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ELA Domain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192525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Primary Skill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361689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Narrative Frame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530853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Lesson Flow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700017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Speaking Prompt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7384" y="4869181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Feedback Anchor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4990" y="360198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LESSON TYPES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4990" y="384887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Story Retell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4990" y="406375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Mission Brief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4990" y="427863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Debate Drop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44990" y="449352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Text Explorer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4990" y="470840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Listen &amp; Judge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BAND DIFFERENTIATION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skill. Four completely different lessons.</a:t>
            </a:r>
            <a:endParaRPr lang="en-US" sz="260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20" y="1051560"/>
            <a:ext cx="1920240" cy="36118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1920240" cy="502920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K–2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&amp; Say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ceiling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words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2377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" y="31729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3566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markers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" y="3767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Pronunciation, Volume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4160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" y="4334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playful, character-driven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1051560"/>
            <a:ext cx="1920240" cy="36118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51760" y="1051560"/>
            <a:ext cx="1920240" cy="502920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097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0" y="1527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Explain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61488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ceiling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61488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words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61488" y="2377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61488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prompt only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61488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61488" y="31729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sentences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61488" y="3566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markers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61488" y="3767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Fluency, Task Adherence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61488" y="4160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61488" y="4334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Curious, mission-framed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1051560"/>
            <a:ext cx="1920240" cy="36118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051560"/>
            <a:ext cx="1920240" cy="502920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1097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92040" y="1527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&amp; Analyze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0328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ceiling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10328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words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0328" y="2377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10328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only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10328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10328" y="31729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sentences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3566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markers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10328" y="3767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Prosody, Task Adherence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10328" y="4160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0328" y="4334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real-stakes framing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1051560"/>
            <a:ext cx="1920240" cy="36118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49440" y="1051560"/>
            <a:ext cx="1920240" cy="502920"/>
          </a:xfrm>
          <a:prstGeom prst="rect">
            <a:avLst/>
          </a:prstGeom>
          <a:solidFill>
            <a:srgbClr val="007A66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040880" y="1097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9–12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040880" y="1527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Persuade &amp; Perform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59168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ceiling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9168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words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59168" y="2377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59168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59168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59168" y="31729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sentences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59168" y="3566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markers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59168" y="3767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Prosody, Fluency, Rate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59168" y="4160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59168" y="4334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Collegiate, nuance rewarded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4846320"/>
            <a:ext cx="780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Sweller (1988): cognitive load constraints tighten with developmental stage. Chall (1983): vocab ceilings derived from stages of reading development.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Hybrid: Rule-Based Guardrails + LLM + Few-Shot RAG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70787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787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827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62227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 guardrail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46275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domain, theme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70787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70787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90827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1262227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646275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× skill × grade × domain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170787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170787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490827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1262227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selection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1646275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CCSS taxonomy, coverage tracking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341219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341219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61259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243265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816707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few-shot + skill injected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341219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341219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661259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243265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call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2816707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 (default)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2341219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341219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661259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0840" y="243265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2816707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field check → guardrail flags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511651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511651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31691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3603091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assignment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3987139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— never LLM-assigned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83280" y="3511651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83280" y="3511651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831691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840480" y="3603091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lesson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40480" y="3987139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data/generated/ as JSON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511651"/>
            <a:ext cx="2651760" cy="10058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3511651"/>
            <a:ext cx="347472" cy="10058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831691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20840" y="3603091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registry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20840" y="3987139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coverage + dedup store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4663440"/>
            <a:ext cx="8412480" cy="347472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080" y="47183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llama-3.1-8b-instant on Groq  ·  Why not Claude API?  Free tier sufficient for structured JSON output at prototype stage.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TAXONOMY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CCSS-aligned skills. Controlled, progressive, measurable.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321040" cy="658368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533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taxonomy: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76272" y="135331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invented skill strings freely. Two lessons with the same theme produced different skill descriptions — unverifiable, inconsistent, unteachable.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920240" cy="16916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40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K–2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× 4 domains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'Use sequence words: first, then, last'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2148840"/>
            <a:ext cx="1920240" cy="16916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88920" y="2240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× 4 domains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92608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'State a claim and give one supporting reason'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148840"/>
            <a:ext cx="1920240" cy="16916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240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× 4 domains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'Acknowledge a counterargument explicitly'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2148840"/>
            <a:ext cx="1920240" cy="16916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2240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9–12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skills × 4 domains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292608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'Adapt register and vocabulary to audience'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LOGIC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1788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Auto-selects next uncovered skill for the requested band + domain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3982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coverage via flat JSON registry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skills covered: deterministic cycling (production: student performance data)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8371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→ Speaking interleaves Reading and Speaking skill lists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 guardrails warn. One blocks.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7061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PRE-GENERATION — RAISES VALUEERROR, STOPS API CALL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2606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81328"/>
            <a:ext cx="64008" cy="5029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grade band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81328"/>
            <a:ext cx="2606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81328"/>
            <a:ext cx="64008" cy="5029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ELA domain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481328"/>
            <a:ext cx="2606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481328"/>
            <a:ext cx="64008" cy="5029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581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or malformed theme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11390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— FLAGS RESULT (CULTURAL BIAS BLOCKS + RETRIES)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423160"/>
            <a:ext cx="397764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423160"/>
            <a:ext cx="64008" cy="7772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skill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'and' in skill strings — compound objectives blocked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397764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23160"/>
            <a:ext cx="64008" cy="7772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496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ceiling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K-2: 30w · 3-5: 60w · 6-8: 100w · 9-12: 150w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337560"/>
            <a:ext cx="3977640" cy="77724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37560"/>
            <a:ext cx="64008" cy="77724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K-2 hook length validated against age constraints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3977640" cy="777240"/>
          </a:xfrm>
          <a:prstGeom prst="rect">
            <a:avLst/>
          </a:prstGeom>
          <a:solidFill>
            <a:srgbClr val="1A0F0F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337560"/>
            <a:ext cx="64008" cy="7772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bias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47488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terms, 6 categories — BLOCKS and retries up to 5×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4315968"/>
            <a:ext cx="8321040" cy="594360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" y="4407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bias retry loop: 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06040" y="44074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flag → inject flagged terms back into prompt as explicit warning → retry. After 5 failures → RuntimeError, nothing saved.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BUILDING 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bugs. Four design principles.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3977640" cy="1664208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3990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 Bug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828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kept generating the same lesson ID because the few-shot example had that ID.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3408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teach format AND specific values. Never let the LLM assign IDs — generate programmatically.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61872"/>
            <a:ext cx="3977640" cy="1664208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1091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3990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Practice Dict Bug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1828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model returned practice as {"prompts": [...]}. 70B returned {"P1": {...}}. Same prompt, different 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0912" y="23408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non-deterministic on structure. Defensive validation is non-negotiable.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3977640" cy="1664208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32278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Skill Taxonomy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6576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skill generation produced different strings for the same skill across lessons — unverifiable and inconsistent.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4169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educational content, LLM creativity is a bug not a feature when it comes to learning objectives.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090672"/>
            <a:ext cx="3977640" cy="1664208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10912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2278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Bias Retry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36576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bias check flagged and saved anyway. Expanded to 30+ terms and changed to block-and-retry.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4169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guardrails should block, not warn. Biased lessons should never be saved.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Bantrly Lesson Generator — HF Spaces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321040" cy="30175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8321040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53312"/>
            <a:ext cx="5029200" cy="182880"/>
          </a:xfrm>
          <a:prstGeom prst="rect">
            <a:avLst/>
          </a:prstGeom>
          <a:solidFill>
            <a:srgbClr val="0F1117"/>
          </a:solidFill>
          <a:ln w="6350">
            <a:solidFill>
              <a:srgbClr val="007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6245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https://huggingface.co/spaces/aankitdas/bantrly-lesson-generator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1920240" cy="530352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Generate tab — pick grade band, domain, theme → watch lesson appear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4434840"/>
            <a:ext cx="1920240" cy="530352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Student Experience tab — step through Hook → Model → Practice → Reflect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4434840"/>
            <a:ext cx="1920240" cy="530352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Coverage Report — skill heatmap, what's been taught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4434840"/>
            <a:ext cx="1920240" cy="530352"/>
          </a:xfrm>
          <a:prstGeom prst="rect">
            <a:avLst/>
          </a:prstGeom>
          <a:solidFill>
            <a:srgbClr val="22263A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Raw JSON — show the actual data structure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9CA85A-66A4-93E1-8869-FB2533A1E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35" y="1620270"/>
            <a:ext cx="2330925" cy="2631690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59C28E-9081-01EC-C96E-C451F7E82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252" y="1627632"/>
            <a:ext cx="2571941" cy="26316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FBAA5AA-0BB4-5552-4CE9-F0F98F3FD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43" y="1630913"/>
            <a:ext cx="3124067" cy="26247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V2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about what doesn't work yet.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41605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3619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bias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764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— misses subtle bias, may false-positive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75688"/>
            <a:ext cx="41605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75688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031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few-shot example per band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331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RAG would use embeddings and a vector store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42616"/>
            <a:ext cx="41605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42616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67004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output 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898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eliminate practice dict auto-correction entirely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09544"/>
            <a:ext cx="41605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09544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2369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JSON registry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465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 a database with concurrent write safety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76472"/>
            <a:ext cx="41605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776472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8039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skill cycling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40325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would use student performance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343400"/>
            <a:ext cx="41605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343400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370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4599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shows prompts only — no speech recording or processing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ROADMAP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74920" y="1508760"/>
            <a:ext cx="3749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74920" y="1508760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15361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mode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1764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response_format: json_schema eliminates validator edge cases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2075688"/>
            <a:ext cx="3749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74920" y="207568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21031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Embeddings-based RAG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2331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for few-shot retrieval, not hardcoded examples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2642616"/>
            <a:ext cx="3749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74920" y="2642616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26700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routing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28986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cycling toward gaps, not deterministic index cycling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74920" y="3209544"/>
            <a:ext cx="3749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74920" y="3209544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32369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3465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Database-backed registry — survive HF Spaces restarts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74920" y="3776472"/>
            <a:ext cx="3749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74920" y="3776472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3803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pipeline integration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4032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Bantrly's speech processing for real marker scoring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74920" y="4343400"/>
            <a:ext cx="3749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074920" y="4343400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43708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learning_goal_connection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30368" y="4599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Optional[str] to Hook, PracticePrompt, Reflect in schema.py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>
            <a:extLst>
              <a:ext uri="{FF2B5EF4-FFF2-40B4-BE49-F238E27FC236}">
                <a16:creationId xmlns:a16="http://schemas.microsoft.com/office/drawing/2014/main" id="{C95B7092-9C32-1162-6E4E-E79D9F634384}"/>
              </a:ext>
            </a:extLst>
          </p:cNvPr>
          <p:cNvSpPr/>
          <p:nvPr/>
        </p:nvSpPr>
        <p:spPr>
          <a:xfrm>
            <a:off x="13716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0A69B8DE-13E7-C482-5DBD-08CDA96D995D}"/>
              </a:ext>
            </a:extLst>
          </p:cNvPr>
          <p:cNvSpPr/>
          <p:nvPr/>
        </p:nvSpPr>
        <p:spPr>
          <a:xfrm>
            <a:off x="64008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ARCHITECTURE</a:t>
            </a:r>
            <a:endParaRPr lang="en-US" sz="900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F2E0897E-B77C-C24F-B35C-71763B1F221B}"/>
              </a:ext>
            </a:extLst>
          </p:cNvPr>
          <p:cNvSpPr/>
          <p:nvPr/>
        </p:nvSpPr>
        <p:spPr>
          <a:xfrm>
            <a:off x="64008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Production-ready. AI-agentic.</a:t>
            </a:r>
            <a:endParaRPr lang="en-US" sz="3000" dirty="0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2FD12124-8A8A-18A6-3B0D-19E0CDEB3B14}"/>
              </a:ext>
            </a:extLst>
          </p:cNvPr>
          <p:cNvSpPr/>
          <p:nvPr/>
        </p:nvSpPr>
        <p:spPr>
          <a:xfrm>
            <a:off x="640080" y="12070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C77AFE7A-4E60-B4C1-85F0-BD21CA2690B8}"/>
              </a:ext>
            </a:extLst>
          </p:cNvPr>
          <p:cNvSpPr/>
          <p:nvPr/>
        </p:nvSpPr>
        <p:spPr>
          <a:xfrm>
            <a:off x="640080" y="1444752"/>
            <a:ext cx="2560320" cy="15544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5EE0BE41-CEC3-F9E7-13F6-C7F4FE9C01DE}"/>
              </a:ext>
            </a:extLst>
          </p:cNvPr>
          <p:cNvSpPr/>
          <p:nvPr/>
        </p:nvSpPr>
        <p:spPr>
          <a:xfrm>
            <a:off x="640080" y="1444752"/>
            <a:ext cx="25603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6">
            <a:extLst>
              <a:ext uri="{FF2B5EF4-FFF2-40B4-BE49-F238E27FC236}">
                <a16:creationId xmlns:a16="http://schemas.microsoft.com/office/drawing/2014/main" id="{2B54896B-B834-2CD6-5097-59B532185CBE}"/>
              </a:ext>
            </a:extLst>
          </p:cNvPr>
          <p:cNvSpPr/>
          <p:nvPr/>
        </p:nvSpPr>
        <p:spPr>
          <a:xfrm>
            <a:off x="804672" y="1600200"/>
            <a:ext cx="502920" cy="502920"/>
          </a:xfrm>
          <a:prstGeom prst="rect">
            <a:avLst/>
          </a:prstGeom>
          <a:solidFill>
            <a:srgbClr val="22263A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029849E0-502F-94EE-0443-86C2C3DEF585}"/>
              </a:ext>
            </a:extLst>
          </p:cNvPr>
          <p:cNvSpPr/>
          <p:nvPr/>
        </p:nvSpPr>
        <p:spPr>
          <a:xfrm>
            <a:off x="1417320" y="1627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1400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0CDD07C6-B6A0-5E15-6003-CA1471153169}"/>
              </a:ext>
            </a:extLst>
          </p:cNvPr>
          <p:cNvSpPr/>
          <p:nvPr/>
        </p:nvSpPr>
        <p:spPr>
          <a:xfrm>
            <a:off x="804672" y="21762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lesson files,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taxonomy</a:t>
            </a:r>
            <a:endParaRPr lang="en-US" sz="1100" dirty="0"/>
          </a:p>
        </p:txBody>
      </p:sp>
      <p:sp>
        <p:nvSpPr>
          <p:cNvPr id="64" name="Shape 9">
            <a:extLst>
              <a:ext uri="{FF2B5EF4-FFF2-40B4-BE49-F238E27FC236}">
                <a16:creationId xmlns:a16="http://schemas.microsoft.com/office/drawing/2014/main" id="{F4E857E6-766A-45EC-95B9-17A7586E8354}"/>
              </a:ext>
            </a:extLst>
          </p:cNvPr>
          <p:cNvSpPr/>
          <p:nvPr/>
        </p:nvSpPr>
        <p:spPr>
          <a:xfrm>
            <a:off x="3200400" y="2176272"/>
            <a:ext cx="201168" cy="4572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253E3C68-A203-7FF3-69B5-FA10748B6E97}"/>
              </a:ext>
            </a:extLst>
          </p:cNvPr>
          <p:cNvSpPr/>
          <p:nvPr/>
        </p:nvSpPr>
        <p:spPr>
          <a:xfrm>
            <a:off x="3273552" y="2057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2FB4C407-2090-AFD5-8A77-AA9252E224DC}"/>
              </a:ext>
            </a:extLst>
          </p:cNvPr>
          <p:cNvSpPr/>
          <p:nvPr/>
        </p:nvSpPr>
        <p:spPr>
          <a:xfrm>
            <a:off x="3474720" y="1444752"/>
            <a:ext cx="2560320" cy="15544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C85040AC-2940-9B22-BA3D-B1327D8FEC68}"/>
              </a:ext>
            </a:extLst>
          </p:cNvPr>
          <p:cNvSpPr/>
          <p:nvPr/>
        </p:nvSpPr>
        <p:spPr>
          <a:xfrm>
            <a:off x="3474720" y="1444752"/>
            <a:ext cx="256032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35EABEE3-91B2-FAB7-DE5F-A15E30E87D9C}"/>
              </a:ext>
            </a:extLst>
          </p:cNvPr>
          <p:cNvSpPr/>
          <p:nvPr/>
        </p:nvSpPr>
        <p:spPr>
          <a:xfrm>
            <a:off x="3639312" y="1600200"/>
            <a:ext cx="502920" cy="502920"/>
          </a:xfrm>
          <a:prstGeom prst="rect">
            <a:avLst/>
          </a:prstGeom>
          <a:solidFill>
            <a:srgbClr val="22263A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5D6726B2-6DB5-663D-22BC-1E6B44EE9F96}"/>
              </a:ext>
            </a:extLst>
          </p:cNvPr>
          <p:cNvSpPr/>
          <p:nvPr/>
        </p:nvSpPr>
        <p:spPr>
          <a:xfrm>
            <a:off x="4251960" y="1627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Kendra</a:t>
            </a:r>
            <a:endParaRPr lang="en-US" sz="1400" dirty="0"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70D0511B-505A-E6BF-00A4-1AD2FC40E2F3}"/>
              </a:ext>
            </a:extLst>
          </p:cNvPr>
          <p:cNvSpPr/>
          <p:nvPr/>
        </p:nvSpPr>
        <p:spPr>
          <a:xfrm>
            <a:off x="3639312" y="21762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knowledge 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connector</a:t>
            </a:r>
            <a:endParaRPr lang="en-US" sz="1100" dirty="0"/>
          </a:p>
        </p:txBody>
      </p:sp>
      <p:sp>
        <p:nvSpPr>
          <p:cNvPr id="71" name="Shape 16">
            <a:extLst>
              <a:ext uri="{FF2B5EF4-FFF2-40B4-BE49-F238E27FC236}">
                <a16:creationId xmlns:a16="http://schemas.microsoft.com/office/drawing/2014/main" id="{66BC3DDF-4CBB-F9E0-4B00-CDA7F1F4E3B6}"/>
              </a:ext>
            </a:extLst>
          </p:cNvPr>
          <p:cNvSpPr/>
          <p:nvPr/>
        </p:nvSpPr>
        <p:spPr>
          <a:xfrm>
            <a:off x="6035040" y="2176272"/>
            <a:ext cx="201168" cy="45720"/>
          </a:xfrm>
          <a:prstGeom prst="rect">
            <a:avLst/>
          </a:prstGeom>
          <a:solidFill>
            <a:srgbClr val="007A66"/>
          </a:solidFill>
          <a:ln w="12700">
            <a:solidFill>
              <a:srgbClr val="007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E2A9CC15-BB3D-8F3C-43C9-5485E0A988F3}"/>
              </a:ext>
            </a:extLst>
          </p:cNvPr>
          <p:cNvSpPr/>
          <p:nvPr/>
        </p:nvSpPr>
        <p:spPr>
          <a:xfrm>
            <a:off x="6107001" y="2059067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EDE6F3B2-B779-CB9F-88B3-4F7F9931A1C9}"/>
              </a:ext>
            </a:extLst>
          </p:cNvPr>
          <p:cNvSpPr/>
          <p:nvPr/>
        </p:nvSpPr>
        <p:spPr>
          <a:xfrm>
            <a:off x="6309360" y="1444752"/>
            <a:ext cx="2560320" cy="155448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19">
            <a:extLst>
              <a:ext uri="{FF2B5EF4-FFF2-40B4-BE49-F238E27FC236}">
                <a16:creationId xmlns:a16="http://schemas.microsoft.com/office/drawing/2014/main" id="{A89459D1-DB35-C632-69EE-2FAA4A5CB8FE}"/>
              </a:ext>
            </a:extLst>
          </p:cNvPr>
          <p:cNvSpPr/>
          <p:nvPr/>
        </p:nvSpPr>
        <p:spPr>
          <a:xfrm>
            <a:off x="6309360" y="1444752"/>
            <a:ext cx="25603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D51B9203-3DB9-F0CE-F701-ED9DB831FD5E}"/>
              </a:ext>
            </a:extLst>
          </p:cNvPr>
          <p:cNvSpPr/>
          <p:nvPr/>
        </p:nvSpPr>
        <p:spPr>
          <a:xfrm>
            <a:off x="6473952" y="1600200"/>
            <a:ext cx="502920" cy="502920"/>
          </a:xfrm>
          <a:prstGeom prst="rect">
            <a:avLst/>
          </a:prstGeom>
          <a:solidFill>
            <a:srgbClr val="22263A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C0FF0B9B-9743-A3F3-5724-57900D8DA2AE}"/>
              </a:ext>
            </a:extLst>
          </p:cNvPr>
          <p:cNvSpPr/>
          <p:nvPr/>
        </p:nvSpPr>
        <p:spPr>
          <a:xfrm>
            <a:off x="7086600" y="1627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Bedrock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</a:t>
            </a:r>
            <a:endParaRPr lang="en-US" sz="1400" dirty="0"/>
          </a:p>
        </p:txBody>
      </p:sp>
      <p:sp>
        <p:nvSpPr>
          <p:cNvPr id="77" name="Text 22">
            <a:extLst>
              <a:ext uri="{FF2B5EF4-FFF2-40B4-BE49-F238E27FC236}">
                <a16:creationId xmlns:a16="http://schemas.microsoft.com/office/drawing/2014/main" id="{F582278D-50D2-E9C6-C2C1-A8D52B2E8487}"/>
              </a:ext>
            </a:extLst>
          </p:cNvPr>
          <p:cNvSpPr/>
          <p:nvPr/>
        </p:nvSpPr>
        <p:spPr>
          <a:xfrm>
            <a:off x="6473952" y="21762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6E16F991-25D4-8140-75E6-84352CF5C4EB}"/>
              </a:ext>
            </a:extLst>
          </p:cNvPr>
          <p:cNvSpPr/>
          <p:nvPr/>
        </p:nvSpPr>
        <p:spPr>
          <a:xfrm>
            <a:off x="640080" y="3200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</a:t>
            </a:r>
            <a:endParaRPr lang="en-US" sz="900" dirty="0"/>
          </a:p>
        </p:txBody>
      </p:sp>
      <p:sp>
        <p:nvSpPr>
          <p:cNvPr id="79" name="Shape 24">
            <a:extLst>
              <a:ext uri="{FF2B5EF4-FFF2-40B4-BE49-F238E27FC236}">
                <a16:creationId xmlns:a16="http://schemas.microsoft.com/office/drawing/2014/main" id="{417AEBCB-B236-09E2-28EA-B6F060EF7E68}"/>
              </a:ext>
            </a:extLst>
          </p:cNvPr>
          <p:cNvSpPr/>
          <p:nvPr/>
        </p:nvSpPr>
        <p:spPr>
          <a:xfrm>
            <a:off x="640080" y="3429000"/>
            <a:ext cx="1920240" cy="14173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25">
            <a:extLst>
              <a:ext uri="{FF2B5EF4-FFF2-40B4-BE49-F238E27FC236}">
                <a16:creationId xmlns:a16="http://schemas.microsoft.com/office/drawing/2014/main" id="{C8F1D0B4-6F1D-D83D-7530-45B0F9B5EE15}"/>
              </a:ext>
            </a:extLst>
          </p:cNvPr>
          <p:cNvSpPr/>
          <p:nvPr/>
        </p:nvSpPr>
        <p:spPr>
          <a:xfrm>
            <a:off x="640080" y="3429000"/>
            <a:ext cx="19202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0B433CC9-E7B0-B472-D483-3CC58202B5DF}"/>
              </a:ext>
            </a:extLst>
          </p:cNvPr>
          <p:cNvSpPr/>
          <p:nvPr/>
        </p:nvSpPr>
        <p:spPr>
          <a:xfrm>
            <a:off x="777240" y="3547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300" dirty="0"/>
          </a:p>
        </p:txBody>
      </p:sp>
      <p:sp>
        <p:nvSpPr>
          <p:cNvPr id="82" name="Text 27">
            <a:extLst>
              <a:ext uri="{FF2B5EF4-FFF2-40B4-BE49-F238E27FC236}">
                <a16:creationId xmlns:a16="http://schemas.microsoft.com/office/drawing/2014/main" id="{D5864E40-7E03-6067-A2EB-A8561D3958AF}"/>
              </a:ext>
            </a:extLst>
          </p:cNvPr>
          <p:cNvSpPr/>
          <p:nvPr/>
        </p:nvSpPr>
        <p:spPr>
          <a:xfrm>
            <a:off x="77724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tool integration</a:t>
            </a:r>
            <a:endParaRPr lang="en-US" sz="1000" dirty="0"/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9DE88017-95F4-8566-360A-73AFE536B9DB}"/>
              </a:ext>
            </a:extLst>
          </p:cNvPr>
          <p:cNvSpPr/>
          <p:nvPr/>
        </p:nvSpPr>
        <p:spPr>
          <a:xfrm>
            <a:off x="2788920" y="3429000"/>
            <a:ext cx="1920240" cy="14173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29">
            <a:extLst>
              <a:ext uri="{FF2B5EF4-FFF2-40B4-BE49-F238E27FC236}">
                <a16:creationId xmlns:a16="http://schemas.microsoft.com/office/drawing/2014/main" id="{B51561DF-FDA4-5990-6A65-19217CB460A9}"/>
              </a:ext>
            </a:extLst>
          </p:cNvPr>
          <p:cNvSpPr/>
          <p:nvPr/>
        </p:nvSpPr>
        <p:spPr>
          <a:xfrm>
            <a:off x="2788920" y="3429000"/>
            <a:ext cx="192024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D3C32110-78BF-B4BA-179E-6F3F94E67CCE}"/>
              </a:ext>
            </a:extLst>
          </p:cNvPr>
          <p:cNvSpPr/>
          <p:nvPr/>
        </p:nvSpPr>
        <p:spPr>
          <a:xfrm>
            <a:off x="2926080" y="3547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 Skills</a:t>
            </a:r>
            <a:endParaRPr lang="en-US" sz="1300" dirty="0"/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340A2DB5-F2F5-53BF-54D3-917C8EBA6E04}"/>
              </a:ext>
            </a:extLst>
          </p:cNvPr>
          <p:cNvSpPr/>
          <p:nvPr/>
        </p:nvSpPr>
        <p:spPr>
          <a:xfrm>
            <a:off x="292608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callable agent tools</a:t>
            </a:r>
            <a:endParaRPr lang="en-US" sz="1000" dirty="0"/>
          </a:p>
        </p:txBody>
      </p:sp>
      <p:sp>
        <p:nvSpPr>
          <p:cNvPr id="87" name="Shape 32">
            <a:extLst>
              <a:ext uri="{FF2B5EF4-FFF2-40B4-BE49-F238E27FC236}">
                <a16:creationId xmlns:a16="http://schemas.microsoft.com/office/drawing/2014/main" id="{30B67F64-5EE7-A9D2-6918-C10CD9946666}"/>
              </a:ext>
            </a:extLst>
          </p:cNvPr>
          <p:cNvSpPr/>
          <p:nvPr/>
        </p:nvSpPr>
        <p:spPr>
          <a:xfrm>
            <a:off x="4937760" y="3429000"/>
            <a:ext cx="1920240" cy="14173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Shape 33">
            <a:extLst>
              <a:ext uri="{FF2B5EF4-FFF2-40B4-BE49-F238E27FC236}">
                <a16:creationId xmlns:a16="http://schemas.microsoft.com/office/drawing/2014/main" id="{763FE13A-8D0B-26D7-272D-62435D4F6188}"/>
              </a:ext>
            </a:extLst>
          </p:cNvPr>
          <p:cNvSpPr/>
          <p:nvPr/>
        </p:nvSpPr>
        <p:spPr>
          <a:xfrm>
            <a:off x="4937760" y="3429000"/>
            <a:ext cx="192024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34">
            <a:extLst>
              <a:ext uri="{FF2B5EF4-FFF2-40B4-BE49-F238E27FC236}">
                <a16:creationId xmlns:a16="http://schemas.microsoft.com/office/drawing/2014/main" id="{574BBD0E-FACA-04FC-9027-3F2AF6BA6A15}"/>
              </a:ext>
            </a:extLst>
          </p:cNvPr>
          <p:cNvSpPr/>
          <p:nvPr/>
        </p:nvSpPr>
        <p:spPr>
          <a:xfrm>
            <a:off x="5074920" y="3547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Memory</a:t>
            </a:r>
            <a:endParaRPr lang="en-US" sz="1300" dirty="0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1AE55F25-5AB4-A8B0-D5FD-8456E5AE2F2D}"/>
              </a:ext>
            </a:extLst>
          </p:cNvPr>
          <p:cNvSpPr/>
          <p:nvPr/>
        </p:nvSpPr>
        <p:spPr>
          <a:xfrm>
            <a:off x="507492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skill history</a:t>
            </a:r>
            <a:endParaRPr lang="en-US" sz="1000" dirty="0"/>
          </a:p>
        </p:txBody>
      </p:sp>
      <p:sp>
        <p:nvSpPr>
          <p:cNvPr id="91" name="Shape 36">
            <a:extLst>
              <a:ext uri="{FF2B5EF4-FFF2-40B4-BE49-F238E27FC236}">
                <a16:creationId xmlns:a16="http://schemas.microsoft.com/office/drawing/2014/main" id="{43ED0DB2-8478-47C1-AF8E-D4A6BA239523}"/>
              </a:ext>
            </a:extLst>
          </p:cNvPr>
          <p:cNvSpPr/>
          <p:nvPr/>
        </p:nvSpPr>
        <p:spPr>
          <a:xfrm>
            <a:off x="7086600" y="3429000"/>
            <a:ext cx="1920240" cy="1417320"/>
          </a:xfrm>
          <a:prstGeom prst="rect">
            <a:avLst/>
          </a:prstGeom>
          <a:solidFill>
            <a:srgbClr val="1A1D27"/>
          </a:solidFill>
          <a:ln w="6350">
            <a:solidFill>
              <a:srgbClr val="007A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Shape 37">
            <a:extLst>
              <a:ext uri="{FF2B5EF4-FFF2-40B4-BE49-F238E27FC236}">
                <a16:creationId xmlns:a16="http://schemas.microsoft.com/office/drawing/2014/main" id="{57323EEF-35FD-344B-1560-1C50F12BEDEC}"/>
              </a:ext>
            </a:extLst>
          </p:cNvPr>
          <p:cNvSpPr/>
          <p:nvPr/>
        </p:nvSpPr>
        <p:spPr>
          <a:xfrm>
            <a:off x="7086600" y="3429000"/>
            <a:ext cx="1920240" cy="6400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38">
            <a:extLst>
              <a:ext uri="{FF2B5EF4-FFF2-40B4-BE49-F238E27FC236}">
                <a16:creationId xmlns:a16="http://schemas.microsoft.com/office/drawing/2014/main" id="{9D6B0C09-BA8F-D927-2BB0-CD9841CE020C}"/>
              </a:ext>
            </a:extLst>
          </p:cNvPr>
          <p:cNvSpPr/>
          <p:nvPr/>
        </p:nvSpPr>
        <p:spPr>
          <a:xfrm>
            <a:off x="7223760" y="3547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Pipeline</a:t>
            </a:r>
            <a:endParaRPr lang="en-US" sz="1300" dirty="0"/>
          </a:p>
        </p:txBody>
      </p:sp>
      <p:sp>
        <p:nvSpPr>
          <p:cNvPr id="94" name="Text 39">
            <a:extLst>
              <a:ext uri="{FF2B5EF4-FFF2-40B4-BE49-F238E27FC236}">
                <a16:creationId xmlns:a16="http://schemas.microsoft.com/office/drawing/2014/main" id="{106FE961-D087-B1A2-F122-C3E152F16B98}"/>
              </a:ext>
            </a:extLst>
          </p:cNvPr>
          <p:cNvSpPr/>
          <p:nvPr/>
        </p:nvSpPr>
        <p:spPr>
          <a:xfrm>
            <a:off x="722376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Bantrly speech signals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into agents</a:t>
            </a:r>
            <a:endParaRPr lang="en-US" sz="1000" dirty="0"/>
          </a:p>
        </p:txBody>
      </p:sp>
      <p:pic>
        <p:nvPicPr>
          <p:cNvPr id="97" name="Picture 96" descr="A blue and purple brain with connected lines&#10;&#10;AI-generated content may be incorrect.">
            <a:extLst>
              <a:ext uri="{FF2B5EF4-FFF2-40B4-BE49-F238E27FC236}">
                <a16:creationId xmlns:a16="http://schemas.microsoft.com/office/drawing/2014/main" id="{AB305208-05C8-3DDF-B813-83B41B631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591057"/>
            <a:ext cx="521208" cy="521208"/>
          </a:xfrm>
          <a:prstGeom prst="rect">
            <a:avLst/>
          </a:prstGeom>
        </p:spPr>
      </p:pic>
      <p:pic>
        <p:nvPicPr>
          <p:cNvPr id="99" name="Picture 98" descr="A group of red cubes&#10;&#10;AI-generated content may be incorrect.">
            <a:extLst>
              <a:ext uri="{FF2B5EF4-FFF2-40B4-BE49-F238E27FC236}">
                <a16:creationId xmlns:a16="http://schemas.microsoft.com/office/drawing/2014/main" id="{FC198CE8-9882-EE47-8610-815D9C284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0"/>
          <a:stretch/>
        </p:blipFill>
        <p:spPr>
          <a:xfrm>
            <a:off x="814388" y="1608850"/>
            <a:ext cx="482129" cy="485459"/>
          </a:xfrm>
          <a:prstGeom prst="rect">
            <a:avLst/>
          </a:prstGeom>
        </p:spPr>
      </p:pic>
      <p:pic>
        <p:nvPicPr>
          <p:cNvPr id="101" name="Picture 100" descr="A white line with a magnifying glass and a window&#10;&#10;AI-generated content may be incorrect.">
            <a:extLst>
              <a:ext uri="{FF2B5EF4-FFF2-40B4-BE49-F238E27FC236}">
                <a16:creationId xmlns:a16="http://schemas.microsoft.com/office/drawing/2014/main" id="{9C26726F-C662-C037-1F02-A25331D24A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49" t="2958"/>
          <a:stretch/>
        </p:blipFill>
        <p:spPr>
          <a:xfrm>
            <a:off x="3648456" y="1606391"/>
            <a:ext cx="486011" cy="48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2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3152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6304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19456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92608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65760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4389120"/>
            <a:ext cx="8732520" cy="365760"/>
          </a:xfrm>
          <a:prstGeom prst="rect">
            <a:avLst/>
          </a:prstGeom>
          <a:solidFill>
            <a:srgbClr val="22263A">
              <a:alpha val="15000"/>
            </a:srgbClr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BANTRLY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325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Questions.</a:t>
            </a:r>
            <a:endParaRPr lang="en-US" sz="58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22860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github.com/aankitdas/bantrly-lesson-generator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081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Spaces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30815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huggingface.co/spaces/aankitdas/bantrly-lesson-generator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Aankit Das  ·  Bantrly Candidate Trial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1591</Words>
  <Application>Microsoft Office PowerPoint</Application>
  <PresentationFormat>On-screen Show (16:9)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Bantrly Lesson Generator</dc:title>
  <dc:subject>PptxGenJS Presentation</dc:subject>
  <dc:creator>Aankit</dc:creator>
  <cp:lastModifiedBy>Aankit Das</cp:lastModifiedBy>
  <cp:revision>6</cp:revision>
  <dcterms:created xsi:type="dcterms:W3CDTF">2026-03-17T18:46:35Z</dcterms:created>
  <dcterms:modified xsi:type="dcterms:W3CDTF">2026-03-20T19:26:45Z</dcterms:modified>
</cp:coreProperties>
</file>